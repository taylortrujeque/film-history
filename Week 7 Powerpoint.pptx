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530" r:id="rId5"/>
    <p:sldId id="545" r:id="rId6"/>
    <p:sldId id="548" r:id="rId7"/>
    <p:sldId id="560" r:id="rId8"/>
    <p:sldId id="553" r:id="rId9"/>
    <p:sldId id="547" r:id="rId10"/>
    <p:sldId id="549" r:id="rId11"/>
    <p:sldId id="550" r:id="rId12"/>
    <p:sldId id="546" r:id="rId13"/>
    <p:sldId id="551" r:id="rId14"/>
    <p:sldId id="558" r:id="rId15"/>
    <p:sldId id="559" r:id="rId16"/>
    <p:sldId id="552" r:id="rId17"/>
    <p:sldId id="561" r:id="rId18"/>
    <p:sldId id="555" r:id="rId19"/>
    <p:sldId id="55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422"/>
  </p:normalViewPr>
  <p:slideViewPr>
    <p:cSldViewPr snapToGrid="0">
      <p:cViewPr varScale="1">
        <p:scale>
          <a:sx n="79" d="100"/>
          <a:sy n="79" d="100"/>
        </p:scale>
        <p:origin x="835"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10/16/2024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C058E0-0852-DB43-83D6-BD76659FF1D8}" type="slidenum">
              <a:rPr lang="en-US" smtClean="0"/>
              <a:t>2</a:t>
            </a:fld>
            <a:endParaRPr lang="en-US" dirty="0"/>
          </a:p>
        </p:txBody>
      </p:sp>
    </p:spTree>
    <p:extLst>
      <p:ext uri="{BB962C8B-B14F-4D97-AF65-F5344CB8AC3E}">
        <p14:creationId xmlns:p14="http://schemas.microsoft.com/office/powerpoint/2010/main" val="1106517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7.xml"/><Relationship Id="rId1" Type="http://schemas.openxmlformats.org/officeDocument/2006/relationships/video" Target="https://www.youtube.com/embed/FiuA5BfK6eM?feature=oemb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8SzltpkGz0M?feature=oembe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8jLHQ-HUbcY?feature=oemb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7.xml"/><Relationship Id="rId1" Type="http://schemas.openxmlformats.org/officeDocument/2006/relationships/video" Target="https://www.youtube.com/embed/2vlwm4VyyTc?feature=oembe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7.xml"/><Relationship Id="rId1" Type="http://schemas.openxmlformats.org/officeDocument/2006/relationships/video" Target="https://www.youtube.com/embed/b3X4-MjrOfA?feature=oembe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7.xml"/><Relationship Id="rId1" Type="http://schemas.openxmlformats.org/officeDocument/2006/relationships/video" Target="https://www.youtube.com/embed/M0iSCfmIdqg?feature=oemb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7.xml"/><Relationship Id="rId1" Type="http://schemas.openxmlformats.org/officeDocument/2006/relationships/video" Target="https://www.youtube.com/embed/HkHWSvZUPy8?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7.xml"/><Relationship Id="rId1" Type="http://schemas.openxmlformats.org/officeDocument/2006/relationships/video" Target="https://www.youtube.com/embed/FWgOPGK589Q?feature=oembe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17.xml"/><Relationship Id="rId1" Type="http://schemas.openxmlformats.org/officeDocument/2006/relationships/video" Target="https://www.youtube.com/embed/fWvX4M1dXss?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The coming of sound</a:t>
            </a:r>
            <a:br>
              <a:rPr lang="en-US" dirty="0"/>
            </a:br>
            <a:endParaRPr lang="en-US" dirty="0"/>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a:t>Week 7</a:t>
            </a:r>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63173E-CDF4-9391-5F55-AD5DBD70AFA5}"/>
              </a:ext>
            </a:extLst>
          </p:cNvPr>
          <p:cNvSpPr>
            <a:spLocks noGrp="1"/>
          </p:cNvSpPr>
          <p:nvPr>
            <p:ph type="title"/>
          </p:nvPr>
        </p:nvSpPr>
        <p:spPr>
          <a:xfrm>
            <a:off x="1632204" y="120904"/>
            <a:ext cx="8878824" cy="1069848"/>
          </a:xfrm>
        </p:spPr>
        <p:txBody>
          <a:bodyPr/>
          <a:lstStyle/>
          <a:p>
            <a:pPr algn="ctr"/>
            <a:r>
              <a:rPr lang="en-US" dirty="0"/>
              <a:t>Invention of sound</a:t>
            </a:r>
          </a:p>
        </p:txBody>
      </p:sp>
      <p:sp>
        <p:nvSpPr>
          <p:cNvPr id="5" name="Content Placeholder 4">
            <a:extLst>
              <a:ext uri="{FF2B5EF4-FFF2-40B4-BE49-F238E27FC236}">
                <a16:creationId xmlns:a16="http://schemas.microsoft.com/office/drawing/2014/main" id="{BB2DB4F6-9D27-C3C5-526C-3309CA0F69E1}"/>
              </a:ext>
            </a:extLst>
          </p:cNvPr>
          <p:cNvSpPr>
            <a:spLocks noGrp="1"/>
          </p:cNvSpPr>
          <p:nvPr>
            <p:ph idx="1"/>
          </p:nvPr>
        </p:nvSpPr>
        <p:spPr>
          <a:xfrm>
            <a:off x="1264920" y="1148080"/>
            <a:ext cx="10368280" cy="4719320"/>
          </a:xfrm>
        </p:spPr>
        <p:txBody>
          <a:bodyPr/>
          <a:lstStyle/>
          <a:p>
            <a:r>
              <a:rPr lang="en-US" dirty="0"/>
              <a:t>By 1930, Hollywood films were all sound films</a:t>
            </a:r>
          </a:p>
          <a:p>
            <a:r>
              <a:rPr lang="en-US" dirty="0"/>
              <a:t>Scientists developed an apparatus that would record and synchronize sound and image with quality and tone suitable for presentation to large audiences</a:t>
            </a:r>
          </a:p>
          <a:p>
            <a:r>
              <a:rPr lang="en-US" dirty="0"/>
              <a:t>AT&amp;T designed both recording of sounds and images</a:t>
            </a:r>
          </a:p>
          <a:p>
            <a:pPr lvl="1"/>
            <a:r>
              <a:rPr lang="en-US" dirty="0"/>
              <a:t>General Electric Labs worked with Radio Corporation of America </a:t>
            </a:r>
          </a:p>
          <a:p>
            <a:r>
              <a:rPr lang="en-US" dirty="0"/>
              <a:t>Technology to make sound on film came from outside Hollywood </a:t>
            </a:r>
          </a:p>
        </p:txBody>
      </p:sp>
    </p:spTree>
    <p:extLst>
      <p:ext uri="{BB962C8B-B14F-4D97-AF65-F5344CB8AC3E}">
        <p14:creationId xmlns:p14="http://schemas.microsoft.com/office/powerpoint/2010/main" val="4131704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D47ABC5-F965-DC54-90B3-E1891F29E2E1}"/>
              </a:ext>
            </a:extLst>
          </p:cNvPr>
          <p:cNvSpPr>
            <a:spLocks noGrp="1"/>
          </p:cNvSpPr>
          <p:nvPr>
            <p:ph type="sldNum" sz="quarter" idx="11"/>
          </p:nvPr>
        </p:nvSpPr>
        <p:spPr/>
        <p:txBody>
          <a:bodyPr/>
          <a:lstStyle/>
          <a:p>
            <a:fld id="{294A09A9-5501-47C1-A89A-A340965A2BE2}" type="slidenum">
              <a:rPr lang="en-US" smtClean="0"/>
              <a:t>3</a:t>
            </a:fld>
            <a:endParaRPr lang="en-US" dirty="0"/>
          </a:p>
        </p:txBody>
      </p:sp>
      <p:sp>
        <p:nvSpPr>
          <p:cNvPr id="2" name="Title 1">
            <a:extLst>
              <a:ext uri="{FF2B5EF4-FFF2-40B4-BE49-F238E27FC236}">
                <a16:creationId xmlns:a16="http://schemas.microsoft.com/office/drawing/2014/main" id="{0CDCB653-CCC4-0292-A214-CC4ADA15DD16}"/>
              </a:ext>
            </a:extLst>
          </p:cNvPr>
          <p:cNvSpPr>
            <a:spLocks noGrp="1"/>
          </p:cNvSpPr>
          <p:nvPr>
            <p:ph type="title"/>
          </p:nvPr>
        </p:nvSpPr>
        <p:spPr>
          <a:xfrm>
            <a:off x="1429004" y="120904"/>
            <a:ext cx="8888476" cy="646176"/>
          </a:xfrm>
        </p:spPr>
        <p:txBody>
          <a:bodyPr/>
          <a:lstStyle/>
          <a:p>
            <a:pPr algn="ctr"/>
            <a:r>
              <a:rPr lang="en-US" sz="3600" dirty="0"/>
              <a:t>Invention of sound</a:t>
            </a:r>
          </a:p>
        </p:txBody>
      </p:sp>
      <p:sp>
        <p:nvSpPr>
          <p:cNvPr id="9" name="Content Placeholder 8">
            <a:extLst>
              <a:ext uri="{FF2B5EF4-FFF2-40B4-BE49-F238E27FC236}">
                <a16:creationId xmlns:a16="http://schemas.microsoft.com/office/drawing/2014/main" id="{3AAF02C6-E346-8013-002C-52CD3E65EC95}"/>
              </a:ext>
            </a:extLst>
          </p:cNvPr>
          <p:cNvSpPr>
            <a:spLocks noGrp="1"/>
          </p:cNvSpPr>
          <p:nvPr>
            <p:ph idx="1"/>
          </p:nvPr>
        </p:nvSpPr>
        <p:spPr>
          <a:xfrm>
            <a:off x="1536192" y="828040"/>
            <a:ext cx="9284208" cy="5720080"/>
          </a:xfrm>
        </p:spPr>
        <p:txBody>
          <a:bodyPr/>
          <a:lstStyle/>
          <a:p>
            <a:r>
              <a:rPr lang="en-US" dirty="0"/>
              <a:t>Warner Bros. was the first film company to use sound in their films</a:t>
            </a:r>
          </a:p>
          <a:p>
            <a:r>
              <a:rPr lang="en-US" dirty="0"/>
              <a:t>Warner Bros. introduced Vitaphone on August 5, 1926, with the premiere of their silent feature </a:t>
            </a:r>
            <a:r>
              <a:rPr lang="en-US" i="1" dirty="0"/>
              <a:t>Don Juan</a:t>
            </a:r>
            <a:r>
              <a:rPr lang="en-US" dirty="0"/>
              <a:t> (1926)</a:t>
            </a:r>
          </a:p>
          <a:p>
            <a:pPr lvl="1"/>
            <a:r>
              <a:rPr lang="en-US" dirty="0"/>
              <a:t>Adding recorded musical tracks to silent films already made </a:t>
            </a:r>
          </a:p>
          <a:p>
            <a:r>
              <a:rPr lang="en-US" dirty="0"/>
              <a:t>The very first “talkers” were short recordings of acts of top musical, comic, and variety talent</a:t>
            </a:r>
          </a:p>
          <a:p>
            <a:r>
              <a:rPr lang="en-US" i="1" dirty="0"/>
              <a:t>The Jazz Singer</a:t>
            </a:r>
            <a:r>
              <a:rPr lang="en-US" dirty="0"/>
              <a:t> (1927)</a:t>
            </a:r>
            <a:r>
              <a:rPr lang="en-US" i="1" dirty="0"/>
              <a:t> </a:t>
            </a:r>
            <a:r>
              <a:rPr lang="en-US" dirty="0"/>
              <a:t>was the feature-length film to include synchronized dialogue (Warner Bros.) </a:t>
            </a:r>
          </a:p>
          <a:p>
            <a:r>
              <a:rPr lang="en-US" dirty="0"/>
              <a:t>Fox Film presented its first sound newsreels at the Roxy Theater in New York City</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25115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4C9F60-45F2-0D73-10C2-FCDB6A2F2E24}"/>
              </a:ext>
            </a:extLst>
          </p:cNvPr>
          <p:cNvSpPr>
            <a:spLocks noGrp="1"/>
          </p:cNvSpPr>
          <p:nvPr>
            <p:ph type="sldNum" sz="quarter" idx="12"/>
          </p:nvPr>
        </p:nvSpPr>
        <p:spPr/>
        <p:txBody>
          <a:bodyPr/>
          <a:lstStyle/>
          <a:p>
            <a:fld id="{294A09A9-5501-47C1-A89A-A340965A2BE2}" type="slidenum">
              <a:rPr lang="en-US" smtClean="0"/>
              <a:pPr/>
              <a:t>4</a:t>
            </a:fld>
            <a:endParaRPr lang="en-US" dirty="0"/>
          </a:p>
        </p:txBody>
      </p:sp>
      <p:pic>
        <p:nvPicPr>
          <p:cNvPr id="6" name="Online Media 5" title="The Strange World of Early Sound Films">
            <a:hlinkClick r:id="" action="ppaction://media"/>
            <a:extLst>
              <a:ext uri="{FF2B5EF4-FFF2-40B4-BE49-F238E27FC236}">
                <a16:creationId xmlns:a16="http://schemas.microsoft.com/office/drawing/2014/main" id="{0F9A1631-E4BE-ECF7-25C7-C0019140265B}"/>
              </a:ext>
            </a:extLst>
          </p:cNvPr>
          <p:cNvPicPr>
            <a:picLocks noRot="1" noChangeAspect="1"/>
          </p:cNvPicPr>
          <p:nvPr>
            <a:videoFile r:link="rId1"/>
          </p:nvPr>
        </p:nvPicPr>
        <p:blipFill>
          <a:blip r:embed="rId3"/>
          <a:stretch>
            <a:fillRect/>
          </a:stretch>
        </p:blipFill>
        <p:spPr>
          <a:xfrm>
            <a:off x="1046480" y="578125"/>
            <a:ext cx="9926320" cy="5604235"/>
          </a:xfrm>
          <a:prstGeom prst="rect">
            <a:avLst/>
          </a:prstGeom>
        </p:spPr>
      </p:pic>
    </p:spTree>
    <p:extLst>
      <p:ext uri="{BB962C8B-B14F-4D97-AF65-F5344CB8AC3E}">
        <p14:creationId xmlns:p14="http://schemas.microsoft.com/office/powerpoint/2010/main" val="137369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9D947B-87A0-62BE-8562-FD9E08613B74}"/>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4" name="Title 3">
            <a:extLst>
              <a:ext uri="{FF2B5EF4-FFF2-40B4-BE49-F238E27FC236}">
                <a16:creationId xmlns:a16="http://schemas.microsoft.com/office/drawing/2014/main" id="{B7800784-BE57-FF14-FE71-64596D2CE3A2}"/>
              </a:ext>
            </a:extLst>
          </p:cNvPr>
          <p:cNvSpPr>
            <a:spLocks noGrp="1"/>
          </p:cNvSpPr>
          <p:nvPr>
            <p:ph type="title"/>
          </p:nvPr>
        </p:nvSpPr>
        <p:spPr>
          <a:xfrm>
            <a:off x="1475232" y="105664"/>
            <a:ext cx="8994648" cy="1052576"/>
          </a:xfrm>
        </p:spPr>
        <p:txBody>
          <a:bodyPr/>
          <a:lstStyle/>
          <a:p>
            <a:pPr algn="ctr"/>
            <a:r>
              <a:rPr lang="en-US" sz="3200" dirty="0"/>
              <a:t>International problems with sound</a:t>
            </a:r>
          </a:p>
        </p:txBody>
      </p:sp>
      <p:sp>
        <p:nvSpPr>
          <p:cNvPr id="5" name="Content Placeholder 4">
            <a:extLst>
              <a:ext uri="{FF2B5EF4-FFF2-40B4-BE49-F238E27FC236}">
                <a16:creationId xmlns:a16="http://schemas.microsoft.com/office/drawing/2014/main" id="{3B0BA16F-9CA3-2586-C9B6-00B270356282}"/>
              </a:ext>
            </a:extLst>
          </p:cNvPr>
          <p:cNvSpPr>
            <a:spLocks noGrp="1"/>
          </p:cNvSpPr>
          <p:nvPr>
            <p:ph idx="1"/>
          </p:nvPr>
        </p:nvSpPr>
        <p:spPr>
          <a:xfrm>
            <a:off x="1224280" y="1158240"/>
            <a:ext cx="10464800" cy="5242560"/>
          </a:xfrm>
        </p:spPr>
        <p:txBody>
          <a:bodyPr/>
          <a:lstStyle/>
          <a:p>
            <a:r>
              <a:rPr lang="en-US" dirty="0"/>
              <a:t>Sound on films threated the to disrupt the international distribution of films because of the language barrier </a:t>
            </a:r>
          </a:p>
          <a:p>
            <a:r>
              <a:rPr lang="en-US" dirty="0"/>
              <a:t>By 1929, many producers decided the only way to preserve the foreign markets was to re-shoot additional versions of each film, with actors speaking different languages in each film</a:t>
            </a:r>
          </a:p>
          <a:p>
            <a:r>
              <a:rPr lang="en-US" dirty="0"/>
              <a:t>By 1931, the technique of mixing separate soundtracks had been enhanced. The original music and sound effects could be combined with new voices, and methods of synchronizing voice and lip movements had improved</a:t>
            </a:r>
          </a:p>
          <a:p>
            <a:r>
              <a:rPr lang="en-US" dirty="0"/>
              <a:t>Subtitles began to be more accepted</a:t>
            </a:r>
          </a:p>
        </p:txBody>
      </p:sp>
    </p:spTree>
    <p:extLst>
      <p:ext uri="{BB962C8B-B14F-4D97-AF65-F5344CB8AC3E}">
        <p14:creationId xmlns:p14="http://schemas.microsoft.com/office/powerpoint/2010/main" val="44483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8AD5C7-D3DA-BDBD-629C-FDDBA2C7C164}"/>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4" name="Title 3">
            <a:extLst>
              <a:ext uri="{FF2B5EF4-FFF2-40B4-BE49-F238E27FC236}">
                <a16:creationId xmlns:a16="http://schemas.microsoft.com/office/drawing/2014/main" id="{AC68BC39-9C3F-62D0-D3A9-AF44D87B0781}"/>
              </a:ext>
            </a:extLst>
          </p:cNvPr>
          <p:cNvSpPr>
            <a:spLocks noGrp="1"/>
          </p:cNvSpPr>
          <p:nvPr>
            <p:ph type="title"/>
          </p:nvPr>
        </p:nvSpPr>
        <p:spPr>
          <a:xfrm>
            <a:off x="1536192" y="80264"/>
            <a:ext cx="8878824" cy="1069848"/>
          </a:xfrm>
        </p:spPr>
        <p:txBody>
          <a:bodyPr/>
          <a:lstStyle/>
          <a:p>
            <a:pPr algn="ctr"/>
            <a:r>
              <a:rPr lang="en-US" sz="3200" i="1" dirty="0"/>
              <a:t>The jazz singer</a:t>
            </a:r>
            <a:r>
              <a:rPr lang="en-US" sz="3200" dirty="0"/>
              <a:t>(1927) Dir. Alan Crosland </a:t>
            </a:r>
          </a:p>
        </p:txBody>
      </p:sp>
      <p:pic>
        <p:nvPicPr>
          <p:cNvPr id="6" name="Online Media 5" title="The Spoken Words That Caused A Sensation In &quot;The Jazz Singer&quot; (1927)">
            <a:hlinkClick r:id="" action="ppaction://media"/>
            <a:extLst>
              <a:ext uri="{FF2B5EF4-FFF2-40B4-BE49-F238E27FC236}">
                <a16:creationId xmlns:a16="http://schemas.microsoft.com/office/drawing/2014/main" id="{FD77E6D5-5F5B-9C2D-CBFE-2825F0AC6645}"/>
              </a:ext>
            </a:extLst>
          </p:cNvPr>
          <p:cNvPicPr>
            <a:picLocks noGrp="1" noRot="1" noChangeAspect="1"/>
          </p:cNvPicPr>
          <p:nvPr>
            <p:ph idx="1"/>
            <a:videoFile r:link="rId1"/>
          </p:nvPr>
        </p:nvPicPr>
        <p:blipFill>
          <a:blip r:embed="rId3"/>
          <a:stretch>
            <a:fillRect/>
          </a:stretch>
        </p:blipFill>
        <p:spPr>
          <a:xfrm>
            <a:off x="1287463" y="1150112"/>
            <a:ext cx="9966935" cy="5627624"/>
          </a:xfrm>
          <a:prstGeom prst="rect">
            <a:avLst/>
          </a:prstGeom>
        </p:spPr>
      </p:pic>
    </p:spTree>
    <p:extLst>
      <p:ext uri="{BB962C8B-B14F-4D97-AF65-F5344CB8AC3E}">
        <p14:creationId xmlns:p14="http://schemas.microsoft.com/office/powerpoint/2010/main" val="13842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31CDC7-D7F3-FC3E-0220-E869F2134F89}"/>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4" name="Title 3">
            <a:extLst>
              <a:ext uri="{FF2B5EF4-FFF2-40B4-BE49-F238E27FC236}">
                <a16:creationId xmlns:a16="http://schemas.microsoft.com/office/drawing/2014/main" id="{300FD34F-0212-E0A8-8172-33D41D06F5DB}"/>
              </a:ext>
            </a:extLst>
          </p:cNvPr>
          <p:cNvSpPr>
            <a:spLocks noGrp="1"/>
          </p:cNvSpPr>
          <p:nvPr>
            <p:ph type="title"/>
          </p:nvPr>
        </p:nvSpPr>
        <p:spPr>
          <a:xfrm>
            <a:off x="1470152" y="95504"/>
            <a:ext cx="8334248" cy="869696"/>
          </a:xfrm>
        </p:spPr>
        <p:txBody>
          <a:bodyPr/>
          <a:lstStyle/>
          <a:p>
            <a:r>
              <a:rPr lang="en-US" sz="2800" u="sng" dirty="0"/>
              <a:t>Fox Film newsreel: </a:t>
            </a:r>
            <a:r>
              <a:rPr lang="en-US" sz="2800" dirty="0"/>
              <a:t>take off and return of Charles </a:t>
            </a:r>
            <a:r>
              <a:rPr lang="en-US" sz="2800" dirty="0" err="1"/>
              <a:t>lindberg</a:t>
            </a:r>
            <a:endParaRPr lang="en-US" sz="2800" dirty="0"/>
          </a:p>
        </p:txBody>
      </p:sp>
      <p:pic>
        <p:nvPicPr>
          <p:cNvPr id="6" name="Online Media 5" title="Fox Movietone News: Charles A. Lindbergh &quot;The Lone Eagle&quot; (1927) Fox Film Corporation">
            <a:hlinkClick r:id="" action="ppaction://media"/>
            <a:extLst>
              <a:ext uri="{FF2B5EF4-FFF2-40B4-BE49-F238E27FC236}">
                <a16:creationId xmlns:a16="http://schemas.microsoft.com/office/drawing/2014/main" id="{4A1CFEDC-506B-D420-73AE-27D3E46A2DB2}"/>
              </a:ext>
            </a:extLst>
          </p:cNvPr>
          <p:cNvPicPr>
            <a:picLocks noGrp="1" noRot="1" noChangeAspect="1"/>
          </p:cNvPicPr>
          <p:nvPr>
            <p:ph idx="1"/>
            <a:videoFile r:link="rId1"/>
          </p:nvPr>
        </p:nvPicPr>
        <p:blipFill>
          <a:blip r:embed="rId3"/>
          <a:stretch>
            <a:fillRect/>
          </a:stretch>
        </p:blipFill>
        <p:spPr>
          <a:xfrm>
            <a:off x="2157413" y="965200"/>
            <a:ext cx="7674187" cy="5755640"/>
          </a:xfrm>
          <a:prstGeom prst="rect">
            <a:avLst/>
          </a:prstGeom>
        </p:spPr>
      </p:pic>
    </p:spTree>
    <p:extLst>
      <p:ext uri="{BB962C8B-B14F-4D97-AF65-F5344CB8AC3E}">
        <p14:creationId xmlns:p14="http://schemas.microsoft.com/office/powerpoint/2010/main" val="90705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D58F6-03A7-6B72-4FFF-7A9424E82D12}"/>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4" name="Title 3">
            <a:extLst>
              <a:ext uri="{FF2B5EF4-FFF2-40B4-BE49-F238E27FC236}">
                <a16:creationId xmlns:a16="http://schemas.microsoft.com/office/drawing/2014/main" id="{B723F9DC-A11D-5DFF-62D6-8AE698952950}"/>
              </a:ext>
            </a:extLst>
          </p:cNvPr>
          <p:cNvSpPr>
            <a:spLocks noGrp="1"/>
          </p:cNvSpPr>
          <p:nvPr>
            <p:ph type="title"/>
          </p:nvPr>
        </p:nvSpPr>
        <p:spPr>
          <a:xfrm>
            <a:off x="1119632" y="75184"/>
            <a:ext cx="8878824" cy="1069848"/>
          </a:xfrm>
        </p:spPr>
        <p:txBody>
          <a:bodyPr/>
          <a:lstStyle/>
          <a:p>
            <a:pPr algn="ctr"/>
            <a:r>
              <a:rPr lang="en-US" dirty="0"/>
              <a:t>Results of sound films</a:t>
            </a:r>
          </a:p>
        </p:txBody>
      </p:sp>
      <p:sp>
        <p:nvSpPr>
          <p:cNvPr id="5" name="Content Placeholder 4">
            <a:extLst>
              <a:ext uri="{FF2B5EF4-FFF2-40B4-BE49-F238E27FC236}">
                <a16:creationId xmlns:a16="http://schemas.microsoft.com/office/drawing/2014/main" id="{79CADF3D-8DA8-916A-533A-65EDC2418AD8}"/>
              </a:ext>
            </a:extLst>
          </p:cNvPr>
          <p:cNvSpPr>
            <a:spLocks noGrp="1"/>
          </p:cNvSpPr>
          <p:nvPr>
            <p:ph idx="1"/>
          </p:nvPr>
        </p:nvSpPr>
        <p:spPr>
          <a:xfrm>
            <a:off x="1651000" y="1227328"/>
            <a:ext cx="9423400" cy="5407152"/>
          </a:xfrm>
        </p:spPr>
        <p:txBody>
          <a:bodyPr/>
          <a:lstStyle/>
          <a:p>
            <a:r>
              <a:rPr lang="en-US" dirty="0"/>
              <a:t>The coming of sound solidified Hollywood’s control over the world market and moved the United States into the studio era </a:t>
            </a:r>
          </a:p>
          <a:p>
            <a:r>
              <a:rPr lang="en-US" dirty="0"/>
              <a:t>The “Big Five” and “Little Three” movie studios dominated filmmaking, film distribution, and film exhibition</a:t>
            </a:r>
          </a:p>
          <a:p>
            <a:r>
              <a:rPr lang="en-US" u="sng" dirty="0"/>
              <a:t>“Big Five”: </a:t>
            </a:r>
            <a:r>
              <a:rPr lang="en-US" dirty="0"/>
              <a:t>Paramount, Warner Bros., MGM/Loew’s, Fox Film, and RKO</a:t>
            </a:r>
          </a:p>
          <a:p>
            <a:r>
              <a:rPr lang="en-US" u="sng" dirty="0"/>
              <a:t>“Little Three”: </a:t>
            </a:r>
            <a:r>
              <a:rPr lang="en-US" dirty="0"/>
              <a:t>Universal, Columbia, and United Artists</a:t>
            </a:r>
          </a:p>
        </p:txBody>
      </p:sp>
    </p:spTree>
    <p:extLst>
      <p:ext uri="{BB962C8B-B14F-4D97-AF65-F5344CB8AC3E}">
        <p14:creationId xmlns:p14="http://schemas.microsoft.com/office/powerpoint/2010/main" val="161491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98299-C506-241B-E1CB-90779C60AFDF}"/>
              </a:ext>
            </a:extLst>
          </p:cNvPr>
          <p:cNvSpPr>
            <a:spLocks noGrp="1"/>
          </p:cNvSpPr>
          <p:nvPr>
            <p:ph type="title"/>
          </p:nvPr>
        </p:nvSpPr>
        <p:spPr/>
        <p:txBody>
          <a:bodyPr/>
          <a:lstStyle/>
          <a:p>
            <a:r>
              <a:rPr lang="en-US" u="sng" dirty="0"/>
              <a:t>Sound Design</a:t>
            </a:r>
          </a:p>
        </p:txBody>
      </p:sp>
      <p:sp>
        <p:nvSpPr>
          <p:cNvPr id="5" name="Text Placeholder 4">
            <a:extLst>
              <a:ext uri="{FF2B5EF4-FFF2-40B4-BE49-F238E27FC236}">
                <a16:creationId xmlns:a16="http://schemas.microsoft.com/office/drawing/2014/main" id="{1C6A3683-0C2E-AC0B-58FC-6107A92F165F}"/>
              </a:ext>
            </a:extLst>
          </p:cNvPr>
          <p:cNvSpPr>
            <a:spLocks noGrp="1"/>
          </p:cNvSpPr>
          <p:nvPr>
            <p:ph type="body" idx="1"/>
          </p:nvPr>
        </p:nvSpPr>
        <p:spPr/>
        <p:txBody>
          <a:bodyPr/>
          <a:lstStyle/>
          <a:p>
            <a:r>
              <a:rPr lang="en-US" dirty="0"/>
              <a:t>Diegetic Sound</a:t>
            </a:r>
          </a:p>
        </p:txBody>
      </p:sp>
      <p:sp>
        <p:nvSpPr>
          <p:cNvPr id="6" name="Content Placeholder 5">
            <a:extLst>
              <a:ext uri="{FF2B5EF4-FFF2-40B4-BE49-F238E27FC236}">
                <a16:creationId xmlns:a16="http://schemas.microsoft.com/office/drawing/2014/main" id="{04707462-4376-5CFC-9B0C-C48869CC3807}"/>
              </a:ext>
            </a:extLst>
          </p:cNvPr>
          <p:cNvSpPr>
            <a:spLocks noGrp="1"/>
          </p:cNvSpPr>
          <p:nvPr>
            <p:ph sz="half" idx="2"/>
          </p:nvPr>
        </p:nvSpPr>
        <p:spPr/>
        <p:txBody>
          <a:bodyPr/>
          <a:lstStyle/>
          <a:p>
            <a:r>
              <a:rPr lang="en-US" sz="2400" dirty="0"/>
              <a:t>Diegetic sound is any sound that originates from the world of a film or TV show, and is often referred to as "actual sound". </a:t>
            </a:r>
          </a:p>
        </p:txBody>
      </p:sp>
      <p:sp>
        <p:nvSpPr>
          <p:cNvPr id="7" name="Text Placeholder 6">
            <a:extLst>
              <a:ext uri="{FF2B5EF4-FFF2-40B4-BE49-F238E27FC236}">
                <a16:creationId xmlns:a16="http://schemas.microsoft.com/office/drawing/2014/main" id="{9EDA3D28-C4A9-6289-4256-751457D24ADA}"/>
              </a:ext>
            </a:extLst>
          </p:cNvPr>
          <p:cNvSpPr>
            <a:spLocks noGrp="1"/>
          </p:cNvSpPr>
          <p:nvPr>
            <p:ph type="body" sz="quarter" idx="3"/>
          </p:nvPr>
        </p:nvSpPr>
        <p:spPr/>
        <p:txBody>
          <a:bodyPr/>
          <a:lstStyle/>
          <a:p>
            <a:r>
              <a:rPr lang="en-US" dirty="0"/>
              <a:t>Non-Diegetic Sound</a:t>
            </a:r>
          </a:p>
          <a:p>
            <a:endParaRPr lang="en-US" dirty="0"/>
          </a:p>
        </p:txBody>
      </p:sp>
      <p:sp>
        <p:nvSpPr>
          <p:cNvPr id="8" name="Content Placeholder 7">
            <a:extLst>
              <a:ext uri="{FF2B5EF4-FFF2-40B4-BE49-F238E27FC236}">
                <a16:creationId xmlns:a16="http://schemas.microsoft.com/office/drawing/2014/main" id="{ACD71EED-8152-7FF8-D088-6262D1B789A2}"/>
              </a:ext>
            </a:extLst>
          </p:cNvPr>
          <p:cNvSpPr>
            <a:spLocks noGrp="1"/>
          </p:cNvSpPr>
          <p:nvPr>
            <p:ph sz="quarter" idx="4"/>
          </p:nvPr>
        </p:nvSpPr>
        <p:spPr/>
        <p:txBody>
          <a:bodyPr/>
          <a:lstStyle/>
          <a:p>
            <a:r>
              <a:rPr lang="en-US" sz="2400" dirty="0"/>
              <a:t>Non-Diegetic Sound-a sound that the characters in a film can't hear, but the audience can</a:t>
            </a:r>
          </a:p>
        </p:txBody>
      </p:sp>
    </p:spTree>
    <p:extLst>
      <p:ext uri="{BB962C8B-B14F-4D97-AF65-F5344CB8AC3E}">
        <p14:creationId xmlns:p14="http://schemas.microsoft.com/office/powerpoint/2010/main" val="3841151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D3DC6FEB-B147-893F-4DCF-324C104CB338}"/>
              </a:ext>
            </a:extLst>
          </p:cNvPr>
          <p:cNvSpPr>
            <a:spLocks noGrp="1"/>
          </p:cNvSpPr>
          <p:nvPr>
            <p:ph type="sldNum" sz="quarter" idx="12"/>
          </p:nvPr>
        </p:nvSpPr>
        <p:spPr/>
        <p:txBody>
          <a:bodyPr/>
          <a:lstStyle/>
          <a:p>
            <a:fld id="{294A09A9-5501-47C1-A89A-A340965A2BE2}" type="slidenum">
              <a:rPr lang="en-US" smtClean="0"/>
              <a:t>10</a:t>
            </a:fld>
            <a:endParaRPr lang="en-US" dirty="0"/>
          </a:p>
        </p:txBody>
      </p:sp>
      <p:pic>
        <p:nvPicPr>
          <p:cNvPr id="9" name="Online Media 8" title="Ultimate Guide to Diegetic vs Non-Diegetic Sound — Definitions, Examples, &amp; How to Break the Rules">
            <a:hlinkClick r:id="" action="ppaction://media"/>
            <a:extLst>
              <a:ext uri="{FF2B5EF4-FFF2-40B4-BE49-F238E27FC236}">
                <a16:creationId xmlns:a16="http://schemas.microsoft.com/office/drawing/2014/main" id="{AAD6B893-B59F-0D24-6657-409F36AFA94D}"/>
              </a:ext>
            </a:extLst>
          </p:cNvPr>
          <p:cNvPicPr>
            <a:picLocks noRot="1" noChangeAspect="1"/>
          </p:cNvPicPr>
          <p:nvPr>
            <a:videoFile r:link="rId1"/>
          </p:nvPr>
        </p:nvPicPr>
        <p:blipFill>
          <a:blip r:embed="rId3"/>
          <a:stretch>
            <a:fillRect/>
          </a:stretch>
        </p:blipFill>
        <p:spPr>
          <a:xfrm>
            <a:off x="1219200" y="393192"/>
            <a:ext cx="10640783" cy="6007608"/>
          </a:xfrm>
          <a:prstGeom prst="rect">
            <a:avLst/>
          </a:prstGeom>
        </p:spPr>
      </p:pic>
    </p:spTree>
    <p:extLst>
      <p:ext uri="{BB962C8B-B14F-4D97-AF65-F5344CB8AC3E}">
        <p14:creationId xmlns:p14="http://schemas.microsoft.com/office/powerpoint/2010/main" val="202639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w Lightsaber sounds were made">
            <a:hlinkClick r:id="" action="ppaction://media"/>
            <a:extLst>
              <a:ext uri="{FF2B5EF4-FFF2-40B4-BE49-F238E27FC236}">
                <a16:creationId xmlns:a16="http://schemas.microsoft.com/office/drawing/2014/main" id="{5CED1862-F567-56F6-6EC9-CBE1E3D67A5A}"/>
              </a:ext>
            </a:extLst>
          </p:cNvPr>
          <p:cNvPicPr>
            <a:picLocks noRot="1" noChangeAspect="1"/>
          </p:cNvPicPr>
          <p:nvPr>
            <a:videoFile r:link="rId1"/>
          </p:nvPr>
        </p:nvPicPr>
        <p:blipFill>
          <a:blip r:embed="rId3"/>
          <a:stretch>
            <a:fillRect/>
          </a:stretch>
        </p:blipFill>
        <p:spPr>
          <a:xfrm>
            <a:off x="1158240" y="571077"/>
            <a:ext cx="10442681" cy="5895763"/>
          </a:xfrm>
          <a:prstGeom prst="rect">
            <a:avLst/>
          </a:prstGeom>
        </p:spPr>
      </p:pic>
    </p:spTree>
    <p:extLst>
      <p:ext uri="{BB962C8B-B14F-4D97-AF65-F5344CB8AC3E}">
        <p14:creationId xmlns:p14="http://schemas.microsoft.com/office/powerpoint/2010/main" val="393910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852E2E-ED52-A9D9-BA58-79079313B84E}"/>
              </a:ext>
            </a:extLst>
          </p:cNvPr>
          <p:cNvSpPr>
            <a:spLocks noGrp="1"/>
          </p:cNvSpPr>
          <p:nvPr>
            <p:ph type="sldNum" sz="quarter" idx="12"/>
          </p:nvPr>
        </p:nvSpPr>
        <p:spPr/>
        <p:txBody>
          <a:bodyPr/>
          <a:lstStyle/>
          <a:p>
            <a:fld id="{294A09A9-5501-47C1-A89A-A340965A2BE2}" type="slidenum">
              <a:rPr lang="en-US" smtClean="0"/>
              <a:t>12</a:t>
            </a:fld>
            <a:endParaRPr lang="en-US" dirty="0"/>
          </a:p>
        </p:txBody>
      </p:sp>
      <p:pic>
        <p:nvPicPr>
          <p:cNvPr id="6" name="Online Media 5" title="Jurassic Park T-Rex sound design explained by Gary Rydstrom">
            <a:hlinkClick r:id="" action="ppaction://media"/>
            <a:extLst>
              <a:ext uri="{FF2B5EF4-FFF2-40B4-BE49-F238E27FC236}">
                <a16:creationId xmlns:a16="http://schemas.microsoft.com/office/drawing/2014/main" id="{0C7BC57B-EFFE-E72E-B89A-48C231E40D2D}"/>
              </a:ext>
            </a:extLst>
          </p:cNvPr>
          <p:cNvPicPr>
            <a:picLocks noRot="1" noChangeAspect="1"/>
          </p:cNvPicPr>
          <p:nvPr>
            <a:videoFile r:link="rId1"/>
          </p:nvPr>
        </p:nvPicPr>
        <p:blipFill>
          <a:blip r:embed="rId3"/>
          <a:stretch>
            <a:fillRect/>
          </a:stretch>
        </p:blipFill>
        <p:spPr>
          <a:xfrm>
            <a:off x="850392" y="467417"/>
            <a:ext cx="10230381" cy="5775903"/>
          </a:xfrm>
          <a:prstGeom prst="rect">
            <a:avLst/>
          </a:prstGeom>
        </p:spPr>
      </p:pic>
    </p:spTree>
    <p:extLst>
      <p:ext uri="{BB962C8B-B14F-4D97-AF65-F5344CB8AC3E}">
        <p14:creationId xmlns:p14="http://schemas.microsoft.com/office/powerpoint/2010/main" val="148273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A80824-4927-43F4-6FA3-A1D1C230CE91}"/>
              </a:ext>
            </a:extLst>
          </p:cNvPr>
          <p:cNvSpPr>
            <a:spLocks noGrp="1"/>
          </p:cNvSpPr>
          <p:nvPr>
            <p:ph type="ctrTitle"/>
          </p:nvPr>
        </p:nvSpPr>
        <p:spPr>
          <a:xfrm>
            <a:off x="1264920" y="1557528"/>
            <a:ext cx="9144000" cy="1069848"/>
          </a:xfrm>
        </p:spPr>
        <p:txBody>
          <a:bodyPr/>
          <a:lstStyle/>
          <a:p>
            <a:r>
              <a:rPr lang="en-US" i="1" dirty="0"/>
              <a:t>Oppenheimer</a:t>
            </a:r>
            <a:r>
              <a:rPr lang="en-US" dirty="0"/>
              <a:t> (2023) Dir. Christopher Nolan </a:t>
            </a:r>
          </a:p>
        </p:txBody>
      </p:sp>
      <p:sp>
        <p:nvSpPr>
          <p:cNvPr id="5" name="Subtitle 4">
            <a:extLst>
              <a:ext uri="{FF2B5EF4-FFF2-40B4-BE49-F238E27FC236}">
                <a16:creationId xmlns:a16="http://schemas.microsoft.com/office/drawing/2014/main" id="{BED2B6AB-257A-1015-E5E6-3E0C50487332}"/>
              </a:ext>
            </a:extLst>
          </p:cNvPr>
          <p:cNvSpPr>
            <a:spLocks noGrp="1"/>
          </p:cNvSpPr>
          <p:nvPr>
            <p:ph type="subTitle" idx="1"/>
          </p:nvPr>
        </p:nvSpPr>
        <p:spPr>
          <a:xfrm>
            <a:off x="2560320" y="3803904"/>
            <a:ext cx="7020560" cy="1738376"/>
          </a:xfrm>
        </p:spPr>
        <p:txBody>
          <a:bodyPr/>
          <a:lstStyle/>
          <a:p>
            <a:r>
              <a:rPr lang="en-US" dirty="0"/>
              <a:t>7:07-9:00</a:t>
            </a:r>
          </a:p>
          <a:p>
            <a:r>
              <a:rPr lang="en-US" dirty="0"/>
              <a:t>1:54-1:59</a:t>
            </a:r>
          </a:p>
          <a:p>
            <a:r>
              <a:rPr lang="en-US" dirty="0"/>
              <a:t>2:04-2:08</a:t>
            </a:r>
          </a:p>
          <a:p>
            <a:r>
              <a:rPr lang="en-US" dirty="0"/>
              <a:t>2:42-2:47</a:t>
            </a:r>
          </a:p>
          <a:p>
            <a:endParaRPr lang="en-US" dirty="0"/>
          </a:p>
          <a:p>
            <a:endParaRPr lang="en-US" dirty="0"/>
          </a:p>
          <a:p>
            <a:endParaRPr lang="en-US" dirty="0"/>
          </a:p>
          <a:p>
            <a:endParaRPr lang="en-US" dirty="0"/>
          </a:p>
          <a:p>
            <a:endParaRPr lang="en-US" dirty="0"/>
          </a:p>
        </p:txBody>
      </p:sp>
      <p:sp>
        <p:nvSpPr>
          <p:cNvPr id="3" name="Slide Number Placeholder 2">
            <a:extLst>
              <a:ext uri="{FF2B5EF4-FFF2-40B4-BE49-F238E27FC236}">
                <a16:creationId xmlns:a16="http://schemas.microsoft.com/office/drawing/2014/main" id="{DCE13CDB-3687-473F-640B-191A8386637F}"/>
              </a:ext>
            </a:extLst>
          </p:cNvPr>
          <p:cNvSpPr>
            <a:spLocks noGrp="1"/>
          </p:cNvSpPr>
          <p:nvPr>
            <p:ph type="sldNum" sz="quarter" idx="4294967295"/>
          </p:nvPr>
        </p:nvSpPr>
        <p:spPr>
          <a:xfrm>
            <a:off x="0" y="411163"/>
            <a:ext cx="522288" cy="311150"/>
          </a:xfrm>
        </p:spPr>
        <p:txBody>
          <a:bodyPr/>
          <a:lstStyle/>
          <a:p>
            <a:fld id="{294A09A9-5501-47C1-A89A-A340965A2BE2}" type="slidenum">
              <a:rPr lang="en-US" smtClean="0"/>
              <a:t>13</a:t>
            </a:fld>
            <a:endParaRPr lang="en-US" dirty="0"/>
          </a:p>
        </p:txBody>
      </p:sp>
    </p:spTree>
    <p:extLst>
      <p:ext uri="{BB962C8B-B14F-4D97-AF65-F5344CB8AC3E}">
        <p14:creationId xmlns:p14="http://schemas.microsoft.com/office/powerpoint/2010/main" val="300012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647E69-C88A-938A-5588-AB20FFBA7381}"/>
              </a:ext>
            </a:extLst>
          </p:cNvPr>
          <p:cNvSpPr>
            <a:spLocks noGrp="1"/>
          </p:cNvSpPr>
          <p:nvPr>
            <p:ph type="sldNum" sz="quarter" idx="12"/>
          </p:nvPr>
        </p:nvSpPr>
        <p:spPr/>
        <p:txBody>
          <a:bodyPr/>
          <a:lstStyle/>
          <a:p>
            <a:fld id="{294A09A9-5501-47C1-A89A-A340965A2BE2}" type="slidenum">
              <a:rPr lang="en-US" smtClean="0"/>
              <a:t>14</a:t>
            </a:fld>
            <a:endParaRPr lang="en-US" dirty="0"/>
          </a:p>
        </p:txBody>
      </p:sp>
      <p:pic>
        <p:nvPicPr>
          <p:cNvPr id="4" name="Online Media 3" title="Oppenheimer | Score">
            <a:hlinkClick r:id="" action="ppaction://media"/>
            <a:extLst>
              <a:ext uri="{FF2B5EF4-FFF2-40B4-BE49-F238E27FC236}">
                <a16:creationId xmlns:a16="http://schemas.microsoft.com/office/drawing/2014/main" id="{FD0D5531-B3FC-C71D-B6F1-D3FF1B035F2D}"/>
              </a:ext>
            </a:extLst>
          </p:cNvPr>
          <p:cNvPicPr>
            <a:picLocks noRot="1" noChangeAspect="1"/>
          </p:cNvPicPr>
          <p:nvPr>
            <a:videoFile r:link="rId1"/>
          </p:nvPr>
        </p:nvPicPr>
        <p:blipFill>
          <a:blip r:embed="rId3"/>
          <a:stretch>
            <a:fillRect/>
          </a:stretch>
        </p:blipFill>
        <p:spPr>
          <a:xfrm>
            <a:off x="811804" y="355976"/>
            <a:ext cx="11189708" cy="6317522"/>
          </a:xfrm>
          <a:prstGeom prst="rect">
            <a:avLst/>
          </a:prstGeom>
        </p:spPr>
      </p:pic>
    </p:spTree>
    <p:extLst>
      <p:ext uri="{BB962C8B-B14F-4D97-AF65-F5344CB8AC3E}">
        <p14:creationId xmlns:p14="http://schemas.microsoft.com/office/powerpoint/2010/main" val="11741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3288D1-814F-D615-C2A2-C8F5A2A8F79D}"/>
              </a:ext>
            </a:extLst>
          </p:cNvPr>
          <p:cNvSpPr>
            <a:spLocks noGrp="1"/>
          </p:cNvSpPr>
          <p:nvPr>
            <p:ph type="sldNum" sz="quarter" idx="12"/>
          </p:nvPr>
        </p:nvSpPr>
        <p:spPr/>
        <p:txBody>
          <a:bodyPr/>
          <a:lstStyle/>
          <a:p>
            <a:fld id="{294A09A9-5501-47C1-A89A-A340965A2BE2}" type="slidenum">
              <a:rPr lang="en-US" smtClean="0"/>
              <a:t>15</a:t>
            </a:fld>
            <a:endParaRPr lang="en-US" dirty="0"/>
          </a:p>
        </p:txBody>
      </p:sp>
      <p:pic>
        <p:nvPicPr>
          <p:cNvPr id="4" name="Online Media 3" title="Oppenheimer | Sound Editing">
            <a:hlinkClick r:id="" action="ppaction://media"/>
            <a:extLst>
              <a:ext uri="{FF2B5EF4-FFF2-40B4-BE49-F238E27FC236}">
                <a16:creationId xmlns:a16="http://schemas.microsoft.com/office/drawing/2014/main" id="{8CB77040-9B21-45BA-301F-4FDFD5356FC0}"/>
              </a:ext>
            </a:extLst>
          </p:cNvPr>
          <p:cNvPicPr>
            <a:picLocks noRot="1" noChangeAspect="1"/>
          </p:cNvPicPr>
          <p:nvPr>
            <a:videoFile r:link="rId1"/>
          </p:nvPr>
        </p:nvPicPr>
        <p:blipFill>
          <a:blip r:embed="rId3"/>
          <a:stretch>
            <a:fillRect/>
          </a:stretch>
        </p:blipFill>
        <p:spPr>
          <a:xfrm>
            <a:off x="850392" y="462388"/>
            <a:ext cx="10668000" cy="6022974"/>
          </a:xfrm>
          <a:prstGeom prst="rect">
            <a:avLst/>
          </a:prstGeom>
        </p:spPr>
      </p:pic>
    </p:spTree>
    <p:extLst>
      <p:ext uri="{BB962C8B-B14F-4D97-AF65-F5344CB8AC3E}">
        <p14:creationId xmlns:p14="http://schemas.microsoft.com/office/powerpoint/2010/main" val="36907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8D97B9-AEBC-57A0-5AC4-6DE347CFFCE6}"/>
              </a:ext>
            </a:extLst>
          </p:cNvPr>
          <p:cNvSpPr>
            <a:spLocks noGrp="1"/>
          </p:cNvSpPr>
          <p:nvPr>
            <p:ph type="sldNum" sz="quarter" idx="12"/>
          </p:nvPr>
        </p:nvSpPr>
        <p:spPr/>
        <p:txBody>
          <a:bodyPr/>
          <a:lstStyle/>
          <a:p>
            <a:fld id="{294A09A9-5501-47C1-A89A-A340965A2BE2}" type="slidenum">
              <a:rPr lang="en-US" smtClean="0"/>
              <a:t>16</a:t>
            </a:fld>
            <a:endParaRPr lang="en-US" dirty="0"/>
          </a:p>
        </p:txBody>
      </p:sp>
      <p:pic>
        <p:nvPicPr>
          <p:cNvPr id="4" name="Online Media 3" title="How 'Oppenheimer' Oscar Winning Composer Ludwig Göransson Created 'Can You Hear The Music?'">
            <a:hlinkClick r:id="" action="ppaction://media"/>
            <a:extLst>
              <a:ext uri="{FF2B5EF4-FFF2-40B4-BE49-F238E27FC236}">
                <a16:creationId xmlns:a16="http://schemas.microsoft.com/office/drawing/2014/main" id="{B860235C-057B-7A05-4C1A-DAC1B267929C}"/>
              </a:ext>
            </a:extLst>
          </p:cNvPr>
          <p:cNvPicPr>
            <a:picLocks noRot="1" noChangeAspect="1"/>
          </p:cNvPicPr>
          <p:nvPr>
            <a:videoFile r:link="rId1"/>
          </p:nvPr>
        </p:nvPicPr>
        <p:blipFill>
          <a:blip r:embed="rId3"/>
          <a:stretch>
            <a:fillRect/>
          </a:stretch>
        </p:blipFill>
        <p:spPr>
          <a:xfrm>
            <a:off x="850392" y="411480"/>
            <a:ext cx="10584688" cy="5975938"/>
          </a:xfrm>
          <a:prstGeom prst="rect">
            <a:avLst/>
          </a:prstGeom>
        </p:spPr>
      </p:pic>
    </p:spTree>
    <p:extLst>
      <p:ext uri="{BB962C8B-B14F-4D97-AF65-F5344CB8AC3E}">
        <p14:creationId xmlns:p14="http://schemas.microsoft.com/office/powerpoint/2010/main" val="116809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10760</TotalTime>
  <Words>435</Words>
  <Application>Microsoft Office PowerPoint</Application>
  <PresentationFormat>Widescreen</PresentationFormat>
  <Paragraphs>54</Paragraphs>
  <Slides>16</Slides>
  <Notes>1</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Courier New</vt:lpstr>
      <vt:lpstr>Segoe UI Light</vt:lpstr>
      <vt:lpstr>Tw Cen MT</vt:lpstr>
      <vt:lpstr>Office Theme</vt:lpstr>
      <vt:lpstr>The coming of sound </vt:lpstr>
      <vt:lpstr>Invention of sound</vt:lpstr>
      <vt:lpstr>Invention of sound</vt:lpstr>
      <vt:lpstr>PowerPoint Presentation</vt:lpstr>
      <vt:lpstr>International problems with sound</vt:lpstr>
      <vt:lpstr>The jazz singer(1927) Dir. Alan Crosland </vt:lpstr>
      <vt:lpstr>Fox Film newsreel: take off and return of Charles lindberg</vt:lpstr>
      <vt:lpstr>Results of sound films</vt:lpstr>
      <vt:lpstr>Sound Design</vt:lpstr>
      <vt:lpstr>PowerPoint Presentation</vt:lpstr>
      <vt:lpstr>PowerPoint Presentation</vt:lpstr>
      <vt:lpstr>PowerPoint Presentation</vt:lpstr>
      <vt:lpstr>Oppenheimer (2023) Dir. Christopher Nolan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Taylor Trujeque</dc:creator>
  <cp:lastModifiedBy>taylor trujeque</cp:lastModifiedBy>
  <cp:revision>70</cp:revision>
  <dcterms:created xsi:type="dcterms:W3CDTF">2024-10-05T17:03:23Z</dcterms:created>
  <dcterms:modified xsi:type="dcterms:W3CDTF">2024-10-17T16:11:25Z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